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4"/>
  </p:sldMasterIdLst>
  <p:notesMasterIdLst>
    <p:notesMasterId r:id="rId16"/>
  </p:notesMasterIdLst>
  <p:sldIdLst>
    <p:sldId id="1956" r:id="rId5"/>
    <p:sldId id="1540" r:id="rId6"/>
    <p:sldId id="1678" r:id="rId7"/>
    <p:sldId id="1902" r:id="rId8"/>
    <p:sldId id="1894" r:id="rId9"/>
    <p:sldId id="1897" r:id="rId10"/>
    <p:sldId id="1905" r:id="rId11"/>
    <p:sldId id="2169" r:id="rId12"/>
    <p:sldId id="2168" r:id="rId13"/>
    <p:sldId id="2167" r:id="rId14"/>
    <p:sldId id="161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i, L. J." initials="WLJ" lastIdx="2" clrIdx="0">
    <p:extLst>
      <p:ext uri="{19B8F6BF-5375-455C-9EA6-DF929625EA0E}">
        <p15:presenceInfo xmlns:p15="http://schemas.microsoft.com/office/powerpoint/2012/main" userId="Wei, L. J.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F4"/>
    <a:srgbClr val="6DE6FF"/>
    <a:srgbClr val="FF7E79"/>
    <a:srgbClr val="1263B0"/>
    <a:srgbClr val="115EA8"/>
    <a:srgbClr val="FF2600"/>
    <a:srgbClr val="FF8C38"/>
    <a:srgbClr val="00D3F3"/>
    <a:srgbClr val="00DFFF"/>
    <a:srgbClr val="58CC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5B8678-786F-0A42-9646-0563D7E813AD}" v="4" dt="2025-10-16T16:16:35.7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36520"/>
  </p:normalViewPr>
  <p:slideViewPr>
    <p:cSldViewPr snapToGrid="0" snapToObjects="1">
      <p:cViewPr varScale="1">
        <p:scale>
          <a:sx n="55" d="100"/>
          <a:sy n="55" d="100"/>
        </p:scale>
        <p:origin x="28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27" d="100"/>
        <a:sy n="127" d="100"/>
      </p:scale>
      <p:origin x="0" y="0"/>
    </p:cViewPr>
  </p:sorterViewPr>
  <p:notesViewPr>
    <p:cSldViewPr snapToGrid="0" snapToObject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no, Hajime" userId="79321051-7cc3-4f07-845b-5867d7ac3a13" providerId="ADAL" clId="{95875809-51F0-5FB4-992C-20EA4E33F6BD}"/>
    <pc:docChg chg="custSel modSld">
      <pc:chgData name="Uno, Hajime" userId="79321051-7cc3-4f07-845b-5867d7ac3a13" providerId="ADAL" clId="{95875809-51F0-5FB4-992C-20EA4E33F6BD}" dt="2025-11-04T15:14:19.180" v="105" actId="20577"/>
      <pc:docMkLst>
        <pc:docMk/>
      </pc:docMkLst>
      <pc:sldChg chg="modNotesTx">
        <pc:chgData name="Uno, Hajime" userId="79321051-7cc3-4f07-845b-5867d7ac3a13" providerId="ADAL" clId="{95875809-51F0-5FB4-992C-20EA4E33F6BD}" dt="2025-11-04T15:14:19.180" v="105" actId="20577"/>
        <pc:sldMkLst>
          <pc:docMk/>
          <pc:sldMk cId="3001580492" sldId="1956"/>
        </pc:sldMkLst>
      </pc:sldChg>
      <pc:sldChg chg="addSp delSp modSp mod">
        <pc:chgData name="Uno, Hajime" userId="79321051-7cc3-4f07-845b-5867d7ac3a13" providerId="ADAL" clId="{95875809-51F0-5FB4-992C-20EA4E33F6BD}" dt="2025-10-16T16:16:49.505" v="104" actId="1038"/>
        <pc:sldMkLst>
          <pc:docMk/>
          <pc:sldMk cId="4286964785" sldId="2167"/>
        </pc:sldMkLst>
        <pc:picChg chg="add mod">
          <ac:chgData name="Uno, Hajime" userId="79321051-7cc3-4f07-845b-5867d7ac3a13" providerId="ADAL" clId="{95875809-51F0-5FB4-992C-20EA4E33F6BD}" dt="2025-10-16T16:16:49.505" v="104" actId="1038"/>
          <ac:picMkLst>
            <pc:docMk/>
            <pc:sldMk cId="4286964785" sldId="2167"/>
            <ac:picMk id="8" creationId="{E03A8C40-A518-097C-24D4-DD517B038F7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05F15-AD76-2441-9D8B-7F2B61AC2689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E5524-BF41-CE4D-B51D-D0F66AA39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3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 dirty="0"/>
              <a:t>Part 1: 120 min</a:t>
            </a:r>
          </a:p>
          <a:p>
            <a:pPr>
              <a:spcBef>
                <a:spcPct val="0"/>
              </a:spcBef>
            </a:pPr>
            <a:r>
              <a:rPr lang="en-US" altLang="en-US"/>
              <a:t>Part </a:t>
            </a:r>
            <a:r>
              <a:rPr lang="en-US" altLang="en-US" dirty="0"/>
              <a:t>2: 120 min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#=====================================================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# Part 1 --- aim to finalize the slide by 10/16 Thursday (11am meeting)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#=====================================================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Introduction - motivation and background -- 10 min [Hajime]  (10:05- 10:15)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Issues of HR -- 25 min [Xiang] (10:15 – 10:40)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RMST definition etc. -- 20 min [Xiang] (10:40 – 11:00)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[break] 10min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Show practical examples in clinical literatures  -- 10 min [Xiang]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Demo and exercise -- 30 min (2-sample comparison) [Angel]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Feedback and Q&amp;A -- 10 min [All]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#=====================================================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# Part 2 --- aim to finalize the slide by 10/27 Monday (1pm meeting)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#=====================================================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Quick recap from Part 1 (5 min) [Hajime]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How to choose tau -- 10 min [Hajime]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Equivalence trial -- 5 min [Hajime]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Power comparison of RMST vs HR/</a:t>
            </a:r>
            <a:r>
              <a:rPr lang="en-US" altLang="en-US" dirty="0" err="1"/>
              <a:t>Logrank</a:t>
            </a:r>
            <a:r>
              <a:rPr lang="en-US" altLang="en-US" dirty="0"/>
              <a:t> (show simulation results) -- 10 to 15 min [Xiang]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- For PH patterns, RMST ~ HR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- For delayed difference pattern ---&gt; HR &gt; RMST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- For early difference pattern ---&gt; RMST &gt; HR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Study design based on RMST --- 30 min (incl. demo and exercise) [Xiang]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[BREAK] 10 min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Regression Analysis with RMST -- 20 min (incl. demo and exercise) [Angel]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RMST for stratified analysis of survival data -- 20 min (incl. demo and exercise) [Angel]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Wrap-up other applications (some more advanced topic) and QA --- 10 min [all]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#--- will not cover this time ---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Empirical choice of a truncation time for RMST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Power comparison between HR-based tests and RMST-based tests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RMST in the presence of competing risks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Generalization of RMST for recurrent event time data analysis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RMST to assess duration of response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RMST to quantify long-term survival benefit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CE5524-BF41-CE4D-B51D-D0F66AA392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541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E5524-BF41-CE4D-B51D-D0F66AA392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64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>
            <a:extLst>
              <a:ext uri="{FF2B5EF4-FFF2-40B4-BE49-F238E27FC236}">
                <a16:creationId xmlns:a16="http://schemas.microsoft.com/office/drawing/2014/main" id="{1B55B919-E7AA-D84D-B9D3-E245DD7DA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8" name="Notes Placeholder 2">
            <a:extLst>
              <a:ext uri="{FF2B5EF4-FFF2-40B4-BE49-F238E27FC236}">
                <a16:creationId xmlns:a16="http://schemas.microsoft.com/office/drawing/2014/main" id="{95692946-7E16-4849-9C9C-73F90A3A8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4579" name="Slide Number Placeholder 3">
            <a:extLst>
              <a:ext uri="{FF2B5EF4-FFF2-40B4-BE49-F238E27FC236}">
                <a16:creationId xmlns:a16="http://schemas.microsoft.com/office/drawing/2014/main" id="{CC9DE8C8-662E-E04E-8588-F2D0398A45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178AAA1-D13E-0F4A-8935-ACD974818718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>
            <a:extLst>
              <a:ext uri="{FF2B5EF4-FFF2-40B4-BE49-F238E27FC236}">
                <a16:creationId xmlns:a16="http://schemas.microsoft.com/office/drawing/2014/main" id="{F846F9BA-B9AE-1A43-ADE8-5D27B1A257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6" name="Notes Placeholder 2">
            <a:extLst>
              <a:ext uri="{FF2B5EF4-FFF2-40B4-BE49-F238E27FC236}">
                <a16:creationId xmlns:a16="http://schemas.microsoft.com/office/drawing/2014/main" id="{06A421D2-66A5-224B-AD79-AF6E25C534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0B419659-1997-CB47-9AD3-39C65B57EC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286AD46-AC80-1D42-880C-5691639334E6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>
            <a:extLst>
              <a:ext uri="{FF2B5EF4-FFF2-40B4-BE49-F238E27FC236}">
                <a16:creationId xmlns:a16="http://schemas.microsoft.com/office/drawing/2014/main" id="{8E9E450A-53F2-F848-8E2B-871486D7E9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6" name="Notes Placeholder 2">
            <a:extLst>
              <a:ext uri="{FF2B5EF4-FFF2-40B4-BE49-F238E27FC236}">
                <a16:creationId xmlns:a16="http://schemas.microsoft.com/office/drawing/2014/main" id="{FCFE2070-F287-4F43-B20F-9A8139D574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47107" name="Slide Number Placeholder 3">
            <a:extLst>
              <a:ext uri="{FF2B5EF4-FFF2-40B4-BE49-F238E27FC236}">
                <a16:creationId xmlns:a16="http://schemas.microsoft.com/office/drawing/2014/main" id="{809C218F-9E69-8744-9AFC-D751F749CC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258C915-844A-B040-9664-DFBD85584378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>
            <a:extLst>
              <a:ext uri="{FF2B5EF4-FFF2-40B4-BE49-F238E27FC236}">
                <a16:creationId xmlns:a16="http://schemas.microsoft.com/office/drawing/2014/main" id="{98E55C26-77B5-6246-AD41-624C30D956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2" name="Notes Placeholder 2">
            <a:extLst>
              <a:ext uri="{FF2B5EF4-FFF2-40B4-BE49-F238E27FC236}">
                <a16:creationId xmlns:a16="http://schemas.microsoft.com/office/drawing/2014/main" id="{9477546D-2F9C-764D-B288-746DB60FB4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@ARTICLE{Glasziou1990-ru,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  title     = "Quality adjusted survival analysis",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  author    = "</a:t>
            </a:r>
            <a:r>
              <a:rPr lang="en-US" altLang="en-US" dirty="0" err="1"/>
              <a:t>Glasziou</a:t>
            </a:r>
            <a:r>
              <a:rPr lang="en-US" altLang="en-US" dirty="0"/>
              <a:t>, P P and Simes, R J and Gelber, R D",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  journal   = "Stat. Med.",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  publisher = "Wiley",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  volume    =  9,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  number    =  11,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  pages     = "1259--1276",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  month     =  </a:t>
            </a:r>
            <a:r>
              <a:rPr lang="en-US" altLang="en-US" dirty="0" err="1"/>
              <a:t>nov</a:t>
            </a:r>
            <a:r>
              <a:rPr lang="en-US" altLang="en-US" dirty="0"/>
              <a:t>,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  year      =  1990,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  language  = "</a:t>
            </a:r>
            <a:r>
              <a:rPr lang="en-US" altLang="en-US" dirty="0" err="1"/>
              <a:t>en</a:t>
            </a:r>
            <a:r>
              <a:rPr lang="en-US" altLang="en-US" dirty="0"/>
              <a:t>"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}</a:t>
            </a:r>
          </a:p>
        </p:txBody>
      </p:sp>
      <p:sp>
        <p:nvSpPr>
          <p:cNvPr id="51203" name="Slide Number Placeholder 3">
            <a:extLst>
              <a:ext uri="{FF2B5EF4-FFF2-40B4-BE49-F238E27FC236}">
                <a16:creationId xmlns:a16="http://schemas.microsoft.com/office/drawing/2014/main" id="{CBDEC45C-B666-3B44-A8B5-1519BB91F1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DD14D7F-FA83-7747-8365-E3CB1A85BB21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>
            <a:extLst>
              <a:ext uri="{FF2B5EF4-FFF2-40B4-BE49-F238E27FC236}">
                <a16:creationId xmlns:a16="http://schemas.microsoft.com/office/drawing/2014/main" id="{7E3053D9-573C-5E46-9DD0-3E897DB23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0" name="Notes Placeholder 2">
            <a:extLst>
              <a:ext uri="{FF2B5EF4-FFF2-40B4-BE49-F238E27FC236}">
                <a16:creationId xmlns:a16="http://schemas.microsoft.com/office/drawing/2014/main" id="{CB86812B-706B-FF43-90CF-21BDA2190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3251" name="Slide Number Placeholder 3">
            <a:extLst>
              <a:ext uri="{FF2B5EF4-FFF2-40B4-BE49-F238E27FC236}">
                <a16:creationId xmlns:a16="http://schemas.microsoft.com/office/drawing/2014/main" id="{7453FF71-BD4C-ED41-A95E-91DC127320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BDF2A1-12C9-B240-BF92-A8BA88750367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E5524-BF41-CE4D-B51D-D0F66AA392C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3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session pairs clear concepts with worked examples and R code, enabling participants to apply the methods immediately. This training session is designed for clinical researchers, seeking interpretable, modern tools for time-to-event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E5524-BF41-CE4D-B51D-D0F66AA392C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54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>
            <a:extLst>
              <a:ext uri="{FF2B5EF4-FFF2-40B4-BE49-F238E27FC236}">
                <a16:creationId xmlns:a16="http://schemas.microsoft.com/office/drawing/2014/main" id="{4AD9A785-B5A9-2944-AEEF-EC5A0199CE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6" name="Notes Placeholder 2">
            <a:extLst>
              <a:ext uri="{FF2B5EF4-FFF2-40B4-BE49-F238E27FC236}">
                <a16:creationId xmlns:a16="http://schemas.microsoft.com/office/drawing/2014/main" id="{F2FAD359-BD44-5644-B8AA-F9D92DD5C2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7347" name="Slide Number Placeholder 3">
            <a:extLst>
              <a:ext uri="{FF2B5EF4-FFF2-40B4-BE49-F238E27FC236}">
                <a16:creationId xmlns:a16="http://schemas.microsoft.com/office/drawing/2014/main" id="{225FA729-4722-7A4E-AD32-D8DDCAFDF4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7966778-14A6-BF46-9C7E-CA7D80DCABA0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3E6C5-4820-504F-8DE9-45298C11B229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4317D-59DE-394B-BE9E-E7D8C7E84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46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3E6C5-4820-504F-8DE9-45298C11B229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4317D-59DE-394B-BE9E-E7D8C7E84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12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3E6C5-4820-504F-8DE9-45298C11B229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4317D-59DE-394B-BE9E-E7D8C7E84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2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3E6C5-4820-504F-8DE9-45298C11B229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4317D-59DE-394B-BE9E-E7D8C7E84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097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3E6C5-4820-504F-8DE9-45298C11B229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4317D-59DE-394B-BE9E-E7D8C7E84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54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3E6C5-4820-504F-8DE9-45298C11B229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4317D-59DE-394B-BE9E-E7D8C7E84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61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3E6C5-4820-504F-8DE9-45298C11B229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4317D-59DE-394B-BE9E-E7D8C7E84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40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3E6C5-4820-504F-8DE9-45298C11B229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4317D-59DE-394B-BE9E-E7D8C7E84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93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3E6C5-4820-504F-8DE9-45298C11B229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4317D-59DE-394B-BE9E-E7D8C7E84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42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3E6C5-4820-504F-8DE9-45298C11B229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4317D-59DE-394B-BE9E-E7D8C7E84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1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3E6C5-4820-504F-8DE9-45298C11B229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4317D-59DE-394B-BE9E-E7D8C7E84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21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3E6C5-4820-504F-8DE9-45298C11B229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317D-59DE-394B-BE9E-E7D8C7E84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46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A90D139-8FE8-D340-8EDC-51C8D3A64421}"/>
              </a:ext>
            </a:extLst>
          </p:cNvPr>
          <p:cNvSpPr/>
          <p:nvPr/>
        </p:nvSpPr>
        <p:spPr>
          <a:xfrm>
            <a:off x="0" y="1261448"/>
            <a:ext cx="9144000" cy="1640105"/>
          </a:xfrm>
          <a:prstGeom prst="rect">
            <a:avLst/>
          </a:prstGeom>
          <a:solidFill>
            <a:srgbClr val="115E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5ACD6-9B91-8441-9683-712886AD3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02" y="1527153"/>
            <a:ext cx="8512258" cy="1126149"/>
          </a:xfrm>
        </p:spPr>
        <p:txBody>
          <a:bodyPr anchor="ctr"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Optima" panose="02000503060000020004" pitchFamily="2" charset="0"/>
              </a:rPr>
              <a:t>Restricted Mean Survival Time in Practice: </a:t>
            </a:r>
            <a:br>
              <a:rPr lang="en-US" sz="3200" dirty="0">
                <a:solidFill>
                  <a:schemeClr val="bg1"/>
                </a:solidFill>
                <a:latin typeface="Optima" panose="02000503060000020004" pitchFamily="2" charset="0"/>
              </a:rPr>
            </a:br>
            <a:r>
              <a:rPr lang="en-US" sz="3200" dirty="0">
                <a:solidFill>
                  <a:schemeClr val="bg1"/>
                </a:solidFill>
                <a:latin typeface="Optima" panose="02000503060000020004" pitchFamily="2" charset="0"/>
              </a:rPr>
              <a:t>An Easy-to-Understand Approach</a:t>
            </a:r>
            <a:endParaRPr lang="en-US" sz="3200" dirty="0">
              <a:solidFill>
                <a:schemeClr val="bg1"/>
              </a:solidFill>
              <a:latin typeface="Optima" panose="0200050306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サブタイトル 6">
            <a:extLst>
              <a:ext uri="{FF2B5EF4-FFF2-40B4-BE49-F238E27FC236}">
                <a16:creationId xmlns:a16="http://schemas.microsoft.com/office/drawing/2014/main" id="{F795A562-46CB-DD43-92F3-A7F88E177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834" y="3269988"/>
            <a:ext cx="6262327" cy="1362369"/>
          </a:xfrm>
        </p:spPr>
        <p:txBody>
          <a:bodyPr>
            <a:noAutofit/>
          </a:bodyPr>
          <a:lstStyle/>
          <a:p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Angel Cronin, Xiang Meng, and Hajime Uno</a:t>
            </a:r>
          </a:p>
          <a:p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Data Science</a:t>
            </a:r>
          </a:p>
          <a:p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Dana-Farber Cancer Institute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DD0AB8-EDC1-F640-B3B8-BE5AD8A2D0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9"/>
          <a:stretch/>
        </p:blipFill>
        <p:spPr>
          <a:xfrm>
            <a:off x="6655637" y="269310"/>
            <a:ext cx="2192523" cy="6083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29F724-FA1A-6F4A-9C33-AAA08FF04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5" y="0"/>
            <a:ext cx="2091690" cy="117831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CA9CC38-B622-8842-8FBE-CD45A481B917}"/>
              </a:ext>
            </a:extLst>
          </p:cNvPr>
          <p:cNvSpPr/>
          <p:nvPr/>
        </p:nvSpPr>
        <p:spPr>
          <a:xfrm>
            <a:off x="0" y="2751680"/>
            <a:ext cx="9144000" cy="68673"/>
          </a:xfrm>
          <a:prstGeom prst="rect">
            <a:avLst/>
          </a:prstGeom>
          <a:solidFill>
            <a:srgbClr val="6DE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104437-FB72-284A-A3E7-B95B4FC91A2F}"/>
              </a:ext>
            </a:extLst>
          </p:cNvPr>
          <p:cNvSpPr/>
          <p:nvPr/>
        </p:nvSpPr>
        <p:spPr>
          <a:xfrm>
            <a:off x="0" y="1330056"/>
            <a:ext cx="9144000" cy="68673"/>
          </a:xfrm>
          <a:prstGeom prst="rect">
            <a:avLst/>
          </a:prstGeom>
          <a:solidFill>
            <a:srgbClr val="6DE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396BCA48-68BA-2B46-8CEF-08D13B0A1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4541" y="4775597"/>
            <a:ext cx="51125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en-US" altLang="en-US" dirty="0">
                <a:latin typeface="Optima" panose="02000503060000020004" pitchFamily="2" charset="0"/>
              </a:rPr>
              <a:t>Data Science Training 2025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A3FB112D-0711-B04B-A843-BF39DD60E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56" y="4772813"/>
            <a:ext cx="29319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Optima" panose="02000503060000020004" pitchFamily="2" charset="0"/>
              </a:rPr>
              <a:t>November 5 and 12, 2025</a:t>
            </a:r>
          </a:p>
        </p:txBody>
      </p:sp>
    </p:spTree>
    <p:extLst>
      <p:ext uri="{BB962C8B-B14F-4D97-AF65-F5344CB8AC3E}">
        <p14:creationId xmlns:p14="http://schemas.microsoft.com/office/powerpoint/2010/main" val="3001580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943234-53E2-924A-83D7-C462498D0D98}"/>
              </a:ext>
            </a:extLst>
          </p:cNvPr>
          <p:cNvSpPr/>
          <p:nvPr/>
        </p:nvSpPr>
        <p:spPr>
          <a:xfrm>
            <a:off x="0" y="1420306"/>
            <a:ext cx="9144000" cy="1692536"/>
          </a:xfrm>
          <a:prstGeom prst="rect">
            <a:avLst/>
          </a:prstGeom>
          <a:solidFill>
            <a:srgbClr val="115E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A99C0B-18DD-0842-AD3E-4C7C3E996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2999" y="1908386"/>
            <a:ext cx="6858000" cy="598083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Welcome!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4EC1C0A-A3A3-3744-97E7-8356B3836EDB}"/>
              </a:ext>
            </a:extLst>
          </p:cNvPr>
          <p:cNvSpPr txBox="1">
            <a:spLocks/>
          </p:cNvSpPr>
          <p:nvPr/>
        </p:nvSpPr>
        <p:spPr>
          <a:xfrm>
            <a:off x="1614487" y="627832"/>
            <a:ext cx="5915025" cy="69056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500" b="1" dirty="0">
              <a:solidFill>
                <a:srgbClr val="1263B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FC762F-D33F-E149-BB2B-69B185616C89}"/>
              </a:ext>
            </a:extLst>
          </p:cNvPr>
          <p:cNvSpPr/>
          <p:nvPr/>
        </p:nvSpPr>
        <p:spPr>
          <a:xfrm>
            <a:off x="0" y="2989589"/>
            <a:ext cx="9144000" cy="45719"/>
          </a:xfrm>
          <a:prstGeom prst="rect">
            <a:avLst/>
          </a:prstGeom>
          <a:solidFill>
            <a:srgbClr val="6DE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9A13BF-DF5E-974C-8AFE-F315312DCC3B}"/>
              </a:ext>
            </a:extLst>
          </p:cNvPr>
          <p:cNvSpPr/>
          <p:nvPr/>
        </p:nvSpPr>
        <p:spPr>
          <a:xfrm>
            <a:off x="0" y="1514303"/>
            <a:ext cx="9144000" cy="45719"/>
          </a:xfrm>
          <a:prstGeom prst="rect">
            <a:avLst/>
          </a:prstGeom>
          <a:solidFill>
            <a:srgbClr val="6DE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843065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879DF7-019B-C34A-B646-606DDC3012C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EBDF20-79CB-8E48-9E4B-05900472641F}"/>
              </a:ext>
            </a:extLst>
          </p:cNvPr>
          <p:cNvSpPr/>
          <p:nvPr/>
        </p:nvSpPr>
        <p:spPr>
          <a:xfrm>
            <a:off x="1332310" y="1275160"/>
            <a:ext cx="6677025" cy="2487215"/>
          </a:xfrm>
          <a:prstGeom prst="rect">
            <a:avLst/>
          </a:prstGeom>
          <a:solidFill>
            <a:schemeClr val="bg1"/>
          </a:solidFill>
          <a:ln w="28575">
            <a:solidFill>
              <a:srgbClr val="1263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CCA4C6A-67FD-1142-BCDE-BA40147C89DA}"/>
              </a:ext>
            </a:extLst>
          </p:cNvPr>
          <p:cNvCxnSpPr>
            <a:cxnSpLocks/>
          </p:cNvCxnSpPr>
          <p:nvPr/>
        </p:nvCxnSpPr>
        <p:spPr>
          <a:xfrm>
            <a:off x="1624012" y="2475310"/>
            <a:ext cx="604361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148B0AB-8F73-AE49-AED9-8A694E3F2269}"/>
              </a:ext>
            </a:extLst>
          </p:cNvPr>
          <p:cNvSpPr txBox="1"/>
          <p:nvPr/>
        </p:nvSpPr>
        <p:spPr>
          <a:xfrm>
            <a:off x="1548408" y="2638425"/>
            <a:ext cx="1239442" cy="55399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500" dirty="0"/>
              <a:t>1958</a:t>
            </a:r>
          </a:p>
          <a:p>
            <a:pPr algn="ctr">
              <a:defRPr/>
            </a:pPr>
            <a:r>
              <a:rPr lang="en-US" sz="1500" dirty="0"/>
              <a:t>Kaplan-Meier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84DE4E-6375-4E48-BF8F-42D8B884773B}"/>
              </a:ext>
            </a:extLst>
          </p:cNvPr>
          <p:cNvSpPr txBox="1"/>
          <p:nvPr/>
        </p:nvSpPr>
        <p:spPr>
          <a:xfrm>
            <a:off x="2032752" y="1562100"/>
            <a:ext cx="1385533" cy="5539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500" dirty="0"/>
              <a:t>1966</a:t>
            </a:r>
          </a:p>
          <a:p>
            <a:pPr algn="ctr">
              <a:defRPr/>
            </a:pPr>
            <a:r>
              <a:rPr lang="en-US" sz="1500" dirty="0">
                <a:solidFill>
                  <a:srgbClr val="FF0000"/>
                </a:solidFill>
              </a:rPr>
              <a:t>Log-rank</a:t>
            </a:r>
            <a:r>
              <a:rPr lang="en-US" sz="1500" dirty="0"/>
              <a:t>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B899A5-FE2A-B142-9B95-1269E13FAE0C}"/>
              </a:ext>
            </a:extLst>
          </p:cNvPr>
          <p:cNvSpPr txBox="1"/>
          <p:nvPr/>
        </p:nvSpPr>
        <p:spPr>
          <a:xfrm>
            <a:off x="2791858" y="2634853"/>
            <a:ext cx="1413157" cy="7848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500" dirty="0"/>
              <a:t>1972</a:t>
            </a:r>
          </a:p>
          <a:p>
            <a:pPr algn="ctr">
              <a:defRPr/>
            </a:pPr>
            <a:r>
              <a:rPr lang="en-US" sz="1500" dirty="0"/>
              <a:t>Cox regression </a:t>
            </a:r>
          </a:p>
          <a:p>
            <a:pPr algn="ctr">
              <a:defRPr/>
            </a:pPr>
            <a:r>
              <a:rPr lang="en-US" sz="1500" dirty="0"/>
              <a:t>(</a:t>
            </a:r>
            <a:r>
              <a:rPr lang="en-US" sz="1500" dirty="0">
                <a:solidFill>
                  <a:srgbClr val="FF0000"/>
                </a:solidFill>
              </a:rPr>
              <a:t>hazard ratio</a:t>
            </a:r>
            <a:r>
              <a:rPr lang="en-US" sz="1500" dirty="0"/>
              <a:t>)</a:t>
            </a:r>
          </a:p>
        </p:txBody>
      </p:sp>
      <p:sp>
        <p:nvSpPr>
          <p:cNvPr id="23559" name="TextBox 8">
            <a:extLst>
              <a:ext uri="{FF2B5EF4-FFF2-40B4-BE49-F238E27FC236}">
                <a16:creationId xmlns:a16="http://schemas.microsoft.com/office/drawing/2014/main" id="{508C92CA-AA8C-1445-920B-02C433AF9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647" y="2216944"/>
            <a:ext cx="51097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350"/>
              <a:t>Now</a:t>
            </a:r>
          </a:p>
        </p:txBody>
      </p:sp>
      <p:sp>
        <p:nvSpPr>
          <p:cNvPr id="23560" name="TextBox 9">
            <a:extLst>
              <a:ext uri="{FF2B5EF4-FFF2-40B4-BE49-F238E27FC236}">
                <a16:creationId xmlns:a16="http://schemas.microsoft.com/office/drawing/2014/main" id="{0AE9905F-F227-454C-B4C5-31674BBAA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7210" y="2206228"/>
            <a:ext cx="53732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350"/>
              <a:t>2010</a:t>
            </a:r>
          </a:p>
        </p:txBody>
      </p:sp>
      <p:sp>
        <p:nvSpPr>
          <p:cNvPr id="23561" name="TextBox 10">
            <a:extLst>
              <a:ext uri="{FF2B5EF4-FFF2-40B4-BE49-F238E27FC236}">
                <a16:creationId xmlns:a16="http://schemas.microsoft.com/office/drawing/2014/main" id="{7816B76C-8E24-8449-A907-E4C72F68F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9017" y="2212181"/>
            <a:ext cx="53732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350"/>
              <a:t>2000</a:t>
            </a:r>
          </a:p>
        </p:txBody>
      </p:sp>
      <p:sp>
        <p:nvSpPr>
          <p:cNvPr id="23562" name="TextBox 11">
            <a:extLst>
              <a:ext uri="{FF2B5EF4-FFF2-40B4-BE49-F238E27FC236}">
                <a16:creationId xmlns:a16="http://schemas.microsoft.com/office/drawing/2014/main" id="{EBE8C909-FD12-164C-803B-616270855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9632" y="2212181"/>
            <a:ext cx="53732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350"/>
              <a:t>1990</a:t>
            </a:r>
          </a:p>
        </p:txBody>
      </p:sp>
      <p:sp>
        <p:nvSpPr>
          <p:cNvPr id="23563" name="TextBox 12">
            <a:extLst>
              <a:ext uri="{FF2B5EF4-FFF2-40B4-BE49-F238E27FC236}">
                <a16:creationId xmlns:a16="http://schemas.microsoft.com/office/drawing/2014/main" id="{1C93EDE4-2289-1B4C-A9D5-E540E45C2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0248" y="2206228"/>
            <a:ext cx="53732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350"/>
              <a:t>1980</a:t>
            </a:r>
          </a:p>
        </p:txBody>
      </p:sp>
      <p:sp>
        <p:nvSpPr>
          <p:cNvPr id="23564" name="TextBox 13">
            <a:extLst>
              <a:ext uri="{FF2B5EF4-FFF2-40B4-BE49-F238E27FC236}">
                <a16:creationId xmlns:a16="http://schemas.microsoft.com/office/drawing/2014/main" id="{4BBCFE65-4325-6F49-A942-C25654C7F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4194" y="2206228"/>
            <a:ext cx="53732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350"/>
              <a:t>1970</a:t>
            </a:r>
          </a:p>
        </p:txBody>
      </p:sp>
      <p:sp>
        <p:nvSpPr>
          <p:cNvPr id="23565" name="TextBox 14">
            <a:extLst>
              <a:ext uri="{FF2B5EF4-FFF2-40B4-BE49-F238E27FC236}">
                <a16:creationId xmlns:a16="http://schemas.microsoft.com/office/drawing/2014/main" id="{7D7E3DC0-2735-E940-A55B-D37320C98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8129" y="2212181"/>
            <a:ext cx="53732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350"/>
              <a:t>1960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E7B05D-675F-1C4B-A4F7-24543260D24A}"/>
              </a:ext>
            </a:extLst>
          </p:cNvPr>
          <p:cNvCxnSpPr>
            <a:cxnSpLocks/>
          </p:cNvCxnSpPr>
          <p:nvPr/>
        </p:nvCxnSpPr>
        <p:spPr>
          <a:xfrm>
            <a:off x="2918222" y="2083594"/>
            <a:ext cx="0" cy="391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4DF7749-2D73-9F4E-BF62-8BEE5194D31A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2163366" y="2489598"/>
            <a:ext cx="4763" cy="14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938E11-F104-0E45-A2FC-2582963AD5F0}"/>
              </a:ext>
            </a:extLst>
          </p:cNvPr>
          <p:cNvCxnSpPr>
            <a:cxnSpLocks/>
          </p:cNvCxnSpPr>
          <p:nvPr/>
        </p:nvCxnSpPr>
        <p:spPr>
          <a:xfrm flipV="1">
            <a:off x="3455194" y="2475310"/>
            <a:ext cx="0" cy="169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569" name="TextBox 18">
            <a:extLst>
              <a:ext uri="{FF2B5EF4-FFF2-40B4-BE49-F238E27FC236}">
                <a16:creationId xmlns:a16="http://schemas.microsoft.com/office/drawing/2014/main" id="{E6A9C06F-B0E6-2147-9DD3-7948950C3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4841" y="1275160"/>
            <a:ext cx="6290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70C0"/>
                </a:solidFill>
              </a:rPr>
              <a:t>TEST</a:t>
            </a:r>
          </a:p>
        </p:txBody>
      </p:sp>
      <p:sp>
        <p:nvSpPr>
          <p:cNvPr id="23570" name="TextBox 19">
            <a:extLst>
              <a:ext uri="{FF2B5EF4-FFF2-40B4-BE49-F238E27FC236}">
                <a16:creationId xmlns:a16="http://schemas.microsoft.com/office/drawing/2014/main" id="{717EBDE4-ED6B-8943-BDD3-5595F237A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7735" y="3350419"/>
            <a:ext cx="13820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70C0"/>
                </a:solidFill>
              </a:rPr>
              <a:t>ESTIMATION</a:t>
            </a:r>
          </a:p>
        </p:txBody>
      </p:sp>
      <p:sp>
        <p:nvSpPr>
          <p:cNvPr id="23571" name="TextBox 20">
            <a:extLst>
              <a:ext uri="{FF2B5EF4-FFF2-40B4-BE49-F238E27FC236}">
                <a16:creationId xmlns:a16="http://schemas.microsoft.com/office/drawing/2014/main" id="{5CC10AC8-939D-E441-96F3-11D6DC345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8067" y="3177779"/>
            <a:ext cx="870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70C0"/>
                </a:solidFill>
              </a:rPr>
              <a:t>GRAPH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EBA54E70-974E-5A46-BC98-2AFCA20462D1}"/>
              </a:ext>
            </a:extLst>
          </p:cNvPr>
          <p:cNvSpPr/>
          <p:nvPr/>
        </p:nvSpPr>
        <p:spPr>
          <a:xfrm>
            <a:off x="3427810" y="1446610"/>
            <a:ext cx="4033838" cy="733425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BCCF6240-1846-D442-86F2-86D86B6A62A0}"/>
              </a:ext>
            </a:extLst>
          </p:cNvPr>
          <p:cNvSpPr/>
          <p:nvPr/>
        </p:nvSpPr>
        <p:spPr>
          <a:xfrm>
            <a:off x="4230291" y="2668190"/>
            <a:ext cx="3259931" cy="72866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85E5D2-13F5-2346-BA1F-674C1BC517A8}"/>
              </a:ext>
            </a:extLst>
          </p:cNvPr>
          <p:cNvSpPr/>
          <p:nvPr/>
        </p:nvSpPr>
        <p:spPr>
          <a:xfrm>
            <a:off x="177281" y="3933825"/>
            <a:ext cx="8789437" cy="1003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75" b="1" i="1" dirty="0">
                <a:solidFill>
                  <a:schemeClr val="tx1"/>
                </a:solidFill>
                <a:latin typeface="+mj-lt"/>
              </a:rPr>
              <a:t>&gt;95% of cancer RCTs (ph3) were using this Test/Estimation method</a:t>
            </a:r>
          </a:p>
          <a:p>
            <a:pPr algn="ctr">
              <a:defRPr/>
            </a:pPr>
            <a:r>
              <a:rPr lang="en-US" sz="2475" b="1" i="1" dirty="0">
                <a:solidFill>
                  <a:schemeClr val="tx1"/>
                </a:solidFill>
                <a:latin typeface="+mj-lt"/>
              </a:rPr>
              <a:t>(Uno et al. 2020, Oncologist)</a:t>
            </a:r>
          </a:p>
        </p:txBody>
      </p:sp>
      <p:sp>
        <p:nvSpPr>
          <p:cNvPr id="23575" name="Title 1">
            <a:extLst>
              <a:ext uri="{FF2B5EF4-FFF2-40B4-BE49-F238E27FC236}">
                <a16:creationId xmlns:a16="http://schemas.microsoft.com/office/drawing/2014/main" id="{9B2FA0AB-6CCD-8346-A7B4-D94E7DD238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85900" y="205978"/>
            <a:ext cx="6172200" cy="708422"/>
          </a:xfrm>
        </p:spPr>
        <p:txBody>
          <a:bodyPr/>
          <a:lstStyle/>
          <a:p>
            <a:pPr algn="ctr"/>
            <a:r>
              <a:rPr lang="en-US" altLang="en-US">
                <a:solidFill>
                  <a:srgbClr val="0070C0"/>
                </a:solidFill>
              </a:rPr>
              <a:t>Methods for time-to-event data</a:t>
            </a:r>
          </a:p>
        </p:txBody>
      </p:sp>
      <p:sp>
        <p:nvSpPr>
          <p:cNvPr id="23576" name="TextBox 25">
            <a:extLst>
              <a:ext uri="{FF2B5EF4-FFF2-40B4-BE49-F238E27FC236}">
                <a16:creationId xmlns:a16="http://schemas.microsoft.com/office/drawing/2014/main" id="{5D633526-3A95-7743-B489-B0E858CDA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1819" y="2216944"/>
            <a:ext cx="53732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350"/>
              <a:t>2020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person, sculpture&#10;&#10;Description automatically generated">
            <a:extLst>
              <a:ext uri="{FF2B5EF4-FFF2-40B4-BE49-F238E27FC236}">
                <a16:creationId xmlns:a16="http://schemas.microsoft.com/office/drawing/2014/main" id="{52F1071B-798A-BE45-A582-B8DDB97B7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9144000" cy="5159573"/>
          </a:xfrm>
          <a:prstGeom prst="rect">
            <a:avLst/>
          </a:prstGeom>
        </p:spPr>
      </p:pic>
      <p:sp>
        <p:nvSpPr>
          <p:cNvPr id="35841" name="Title 1">
            <a:extLst>
              <a:ext uri="{FF2B5EF4-FFF2-40B4-BE49-F238E27FC236}">
                <a16:creationId xmlns:a16="http://schemas.microsoft.com/office/drawing/2014/main" id="{A94F9B56-2048-4C42-93E7-616BAE42FA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012" y="108972"/>
            <a:ext cx="5915025" cy="573881"/>
          </a:xfrm>
        </p:spPr>
        <p:txBody>
          <a:bodyPr/>
          <a:lstStyle/>
          <a:p>
            <a:pPr algn="ctr"/>
            <a:r>
              <a:rPr lang="en-US" altLang="en-US" sz="3000" b="1" i="1" dirty="0">
                <a:solidFill>
                  <a:srgbClr val="115EA8"/>
                </a:solidFill>
              </a:rPr>
              <a:t>Near universal use of log-rank/HR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92F78-4655-CF44-9EAA-BD2752488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312" y="1326125"/>
            <a:ext cx="5367338" cy="3673616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Clinical research are highly variable with respect to their characteristics and research questions. </a:t>
            </a:r>
            <a:r>
              <a:rPr lang="en-US" sz="2400" b="1" dirty="0"/>
              <a:t>One method does not fit all. </a:t>
            </a:r>
            <a:endParaRPr lang="en-US" sz="2400" b="1" dirty="0">
              <a:latin typeface="+mj-lt"/>
            </a:endParaRPr>
          </a:p>
          <a:p>
            <a:pPr>
              <a:defRPr/>
            </a:pPr>
            <a:r>
              <a:rPr lang="en-US" sz="2400" b="1" i="1" dirty="0"/>
              <a:t>No method is perfect.</a:t>
            </a:r>
            <a:r>
              <a:rPr lang="en-US" sz="2400" b="1" dirty="0"/>
              <a:t> </a:t>
            </a:r>
            <a:r>
              <a:rPr lang="en-US" sz="2400" dirty="0">
                <a:latin typeface="+mj-lt"/>
              </a:rPr>
              <a:t>Log-rank/HR is not an exception.</a:t>
            </a:r>
          </a:p>
          <a:p>
            <a:pPr>
              <a:defRPr/>
            </a:pPr>
            <a:endParaRPr lang="en-US" sz="2400" dirty="0">
              <a:latin typeface="+mj-lt"/>
            </a:endParaRPr>
          </a:p>
          <a:p>
            <a:pPr>
              <a:defRPr/>
            </a:pPr>
            <a:endParaRPr lang="en-US" sz="2400" dirty="0">
              <a:latin typeface="+mj-lt"/>
            </a:endParaRPr>
          </a:p>
          <a:p>
            <a:pPr marL="0" indent="0">
              <a:buNone/>
              <a:defRPr/>
            </a:pPr>
            <a:r>
              <a:rPr lang="en-US" sz="2400" dirty="0">
                <a:latin typeface="+mj-lt"/>
              </a:rPr>
              <a:t> 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EE50F1A9-B597-EA4E-A4B5-ACEB5C563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56" y="709376"/>
            <a:ext cx="536733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700" b="1" i="1" dirty="0">
                <a:solidFill>
                  <a:srgbClr val="FFFF00"/>
                </a:solidFill>
              </a:rPr>
              <a:t>Is this tradition reasonable?</a:t>
            </a:r>
            <a:endParaRPr lang="en-US" altLang="en-US" sz="27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1CF9D826-1A17-B240-B32F-311459BDCB4A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723117" y="410704"/>
            <a:ext cx="5111353" cy="1135856"/>
          </a:xfrm>
        </p:spPr>
        <p:txBody>
          <a:bodyPr/>
          <a:lstStyle/>
          <a:p>
            <a:pPr algn="ctr"/>
            <a:r>
              <a:rPr lang="en-US" altLang="en-US" dirty="0"/>
              <a:t>Signs of change</a:t>
            </a:r>
          </a:p>
        </p:txBody>
      </p:sp>
      <p:pic>
        <p:nvPicPr>
          <p:cNvPr id="10" name="Picture 9" descr="A picture containing text, sign, outdoor, street&#10;&#10;Description automatically generated">
            <a:extLst>
              <a:ext uri="{FF2B5EF4-FFF2-40B4-BE49-F238E27FC236}">
                <a16:creationId xmlns:a16="http://schemas.microsoft.com/office/drawing/2014/main" id="{A2F8B96E-2C3E-7942-B4AE-C31899339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292" y="1505373"/>
            <a:ext cx="3429001" cy="34290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4AA3C11C-7F54-A64D-BB7E-367EAFD97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8735" y="1628775"/>
            <a:ext cx="2726531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en-US" sz="2025">
              <a:latin typeface="Calibri Light" panose="020F03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0180" name="Rectangle 34">
            <a:extLst>
              <a:ext uri="{FF2B5EF4-FFF2-40B4-BE49-F238E27FC236}">
                <a16:creationId xmlns:a16="http://schemas.microsoft.com/office/drawing/2014/main" id="{6DCF1B2C-C431-C04C-B146-29FFACA53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07" y="465535"/>
            <a:ext cx="334684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3000">
                <a:solidFill>
                  <a:srgbClr val="115EA8"/>
                </a:solidFill>
              </a:rPr>
              <a:t>RMST is getting popular…</a:t>
            </a:r>
          </a:p>
        </p:txBody>
      </p:sp>
      <p:pic>
        <p:nvPicPr>
          <p:cNvPr id="50181" name="Picture 6">
            <a:extLst>
              <a:ext uri="{FF2B5EF4-FFF2-40B4-BE49-F238E27FC236}">
                <a16:creationId xmlns:a16="http://schemas.microsoft.com/office/drawing/2014/main" id="{ADE81067-1187-1B4F-9BC8-7515F7461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481" y="47625"/>
            <a:ext cx="717232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44" descr="Chart, histogram&#10;&#10;Description automatically generated">
            <a:extLst>
              <a:ext uri="{FF2B5EF4-FFF2-40B4-BE49-F238E27FC236}">
                <a16:creationId xmlns:a16="http://schemas.microsoft.com/office/drawing/2014/main" id="{C0125931-A399-4C4E-A4A2-7A54F67B87A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38" r="-1" b="4233"/>
          <a:stretch/>
        </p:blipFill>
        <p:spPr>
          <a:xfrm>
            <a:off x="2988296" y="596638"/>
            <a:ext cx="6034577" cy="427683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DD97C9E-E735-F945-AD8A-DBB6F4840FD1}"/>
              </a:ext>
            </a:extLst>
          </p:cNvPr>
          <p:cNvSpPr txBox="1"/>
          <p:nvPr/>
        </p:nvSpPr>
        <p:spPr>
          <a:xfrm>
            <a:off x="3353150" y="3262694"/>
            <a:ext cx="2097628" cy="7694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numCol="1" rtlCol="0">
            <a:spAutoFit/>
          </a:bodyPr>
          <a:lstStyle/>
          <a:p>
            <a:r>
              <a:rPr lang="en-US" sz="1100" dirty="0">
                <a:latin typeface="+mj-lt"/>
              </a:rPr>
              <a:t>We published a paper introducing RMST-based analysis to the clinical research community (Uno et al. JCO).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934C4C0-0463-7645-BDB6-67FCB6BDE8DC}"/>
              </a:ext>
            </a:extLst>
          </p:cNvPr>
          <p:cNvSpPr txBox="1"/>
          <p:nvPr/>
        </p:nvSpPr>
        <p:spPr>
          <a:xfrm>
            <a:off x="5527614" y="713541"/>
            <a:ext cx="2609104" cy="4308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numCol="1" rtlCol="0">
            <a:spAutoFit/>
          </a:bodyPr>
          <a:lstStyle/>
          <a:p>
            <a:r>
              <a:rPr lang="en-US" sz="1100" dirty="0">
                <a:latin typeface="+mj-lt"/>
              </a:rPr>
              <a:t>First publication using RMST-based analysis as a primary method (NEJM).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AA771B2-F333-CE4D-ACBE-038581272812}"/>
              </a:ext>
            </a:extLst>
          </p:cNvPr>
          <p:cNvGrpSpPr/>
          <p:nvPr/>
        </p:nvGrpSpPr>
        <p:grpSpPr>
          <a:xfrm>
            <a:off x="8116293" y="870450"/>
            <a:ext cx="522220" cy="103271"/>
            <a:chOff x="5290455" y="713941"/>
            <a:chExt cx="537468" cy="149509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D3D7781-4A7D-2343-8708-4905DAE746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26485" y="726290"/>
              <a:ext cx="1438" cy="1371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26F642-04FB-3D4A-9445-C3F215CEE167}"/>
                </a:ext>
              </a:extLst>
            </p:cNvPr>
            <p:cNvCxnSpPr>
              <a:cxnSpLocks/>
            </p:cNvCxnSpPr>
            <p:nvPr/>
          </p:nvCxnSpPr>
          <p:spPr>
            <a:xfrm>
              <a:off x="5312784" y="729969"/>
              <a:ext cx="5137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3F3AD56-9826-5149-938D-DD0EB5270C6C}"/>
                </a:ext>
              </a:extLst>
            </p:cNvPr>
            <p:cNvSpPr/>
            <p:nvPr/>
          </p:nvSpPr>
          <p:spPr>
            <a:xfrm>
              <a:off x="5290455" y="71394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FFECA42-D279-D04C-A093-0606BF990B61}"/>
              </a:ext>
            </a:extLst>
          </p:cNvPr>
          <p:cNvSpPr txBox="1"/>
          <p:nvPr/>
        </p:nvSpPr>
        <p:spPr>
          <a:xfrm>
            <a:off x="4843267" y="1189929"/>
            <a:ext cx="260910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numCol="1" rtlCol="0">
            <a:spAutoFit/>
          </a:bodyPr>
          <a:lstStyle/>
          <a:p>
            <a:r>
              <a:rPr lang="en-US" sz="1100" dirty="0">
                <a:latin typeface="+mj-lt"/>
              </a:rPr>
              <a:t>SAS Inc. released the RMSTREG procedure.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1230BD-A0EB-514E-B074-CE41EAA9F633}"/>
              </a:ext>
            </a:extLst>
          </p:cNvPr>
          <p:cNvSpPr txBox="1"/>
          <p:nvPr/>
        </p:nvSpPr>
        <p:spPr>
          <a:xfrm>
            <a:off x="3353942" y="2284479"/>
            <a:ext cx="2609103" cy="938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numCol="1" rtlCol="0">
            <a:spAutoFit/>
          </a:bodyPr>
          <a:lstStyle/>
          <a:p>
            <a:r>
              <a:rPr lang="en-US" sz="1100" dirty="0">
                <a:latin typeface="+mj-lt"/>
              </a:rPr>
              <a:t>We released </a:t>
            </a:r>
          </a:p>
          <a:p>
            <a:pPr marL="91440" lvl="0" indent="-9144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Calibri Light" panose="020F0302020204030204"/>
              </a:rPr>
              <a:t>the survRM2 R package and SAS macro (%rmst2) for RMST-based analyses.</a:t>
            </a:r>
          </a:p>
          <a:p>
            <a:pPr marL="91440" lvl="0" indent="-9144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Calibri Light" panose="020F0302020204030204"/>
              </a:rPr>
              <a:t>the SSRMST package for designing studies using RMST-based methods.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47E0B7-7CA7-C547-855B-D788A6CB79AA}"/>
              </a:ext>
            </a:extLst>
          </p:cNvPr>
          <p:cNvSpPr txBox="1"/>
          <p:nvPr/>
        </p:nvSpPr>
        <p:spPr>
          <a:xfrm>
            <a:off x="3833612" y="1466223"/>
            <a:ext cx="2609104" cy="7950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numCol="1" rtlCol="0">
            <a:spAutoFit/>
          </a:bodyPr>
          <a:lstStyle/>
          <a:p>
            <a:pPr marL="91440" indent="-9144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Calibri Light" panose="020F0302020204030204"/>
              </a:rPr>
              <a:t>We provided a short RMST course at the FDA.</a:t>
            </a:r>
          </a:p>
          <a:p>
            <a:pPr marL="91440" lvl="0" indent="-9144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Calibri Light" panose="020F0302020204030204"/>
              </a:rPr>
              <a:t>We released Stata commands for RMST analysis (strmst2 and strmst2pw).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715D3F0-6EC2-A84F-9CCD-FAB19ECA1E18}"/>
              </a:ext>
            </a:extLst>
          </p:cNvPr>
          <p:cNvGrpSpPr/>
          <p:nvPr/>
        </p:nvGrpSpPr>
        <p:grpSpPr>
          <a:xfrm>
            <a:off x="6429446" y="1861387"/>
            <a:ext cx="183824" cy="1805774"/>
            <a:chOff x="3226677" y="4608530"/>
            <a:chExt cx="189191" cy="2614294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0D6C005-7524-0248-AF9C-F60224FAF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5867" y="4635072"/>
              <a:ext cx="1" cy="25877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97EAF0E-C4E1-FD47-A080-7900922B1A93}"/>
                </a:ext>
              </a:extLst>
            </p:cNvPr>
            <p:cNvCxnSpPr>
              <a:cxnSpLocks/>
            </p:cNvCxnSpPr>
            <p:nvPr/>
          </p:nvCxnSpPr>
          <p:spPr>
            <a:xfrm>
              <a:off x="3237187" y="4635067"/>
              <a:ext cx="17867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DC11A540-E663-594C-8D86-8614F171CA00}"/>
                </a:ext>
              </a:extLst>
            </p:cNvPr>
            <p:cNvSpPr/>
            <p:nvPr/>
          </p:nvSpPr>
          <p:spPr>
            <a:xfrm>
              <a:off x="3226677" y="460853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19E836C-B549-A74B-80A7-CEA8DB803299}"/>
              </a:ext>
            </a:extLst>
          </p:cNvPr>
          <p:cNvGrpSpPr/>
          <p:nvPr/>
        </p:nvGrpSpPr>
        <p:grpSpPr>
          <a:xfrm>
            <a:off x="7442160" y="1281437"/>
            <a:ext cx="183819" cy="1572086"/>
            <a:chOff x="3226677" y="4608530"/>
            <a:chExt cx="189186" cy="2274988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71943B3-0889-CA43-95CF-219B0805A4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5863" y="4635069"/>
              <a:ext cx="0" cy="22484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E545B1D-C12E-E242-8732-A9DF0275DE9D}"/>
                </a:ext>
              </a:extLst>
            </p:cNvPr>
            <p:cNvCxnSpPr>
              <a:cxnSpLocks/>
            </p:cNvCxnSpPr>
            <p:nvPr/>
          </p:nvCxnSpPr>
          <p:spPr>
            <a:xfrm>
              <a:off x="3237187" y="4635067"/>
              <a:ext cx="17867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48B1488-2F48-7F45-8F43-2B41FD6CF043}"/>
                </a:ext>
              </a:extLst>
            </p:cNvPr>
            <p:cNvSpPr/>
            <p:nvPr/>
          </p:nvSpPr>
          <p:spPr>
            <a:xfrm>
              <a:off x="3226677" y="460853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F73E29F-0A43-1B4E-BFE1-A0DC7F2BB1AB}"/>
              </a:ext>
            </a:extLst>
          </p:cNvPr>
          <p:cNvGrpSpPr/>
          <p:nvPr/>
        </p:nvGrpSpPr>
        <p:grpSpPr>
          <a:xfrm>
            <a:off x="5948387" y="2700220"/>
            <a:ext cx="183819" cy="1224696"/>
            <a:chOff x="3226677" y="4608530"/>
            <a:chExt cx="189186" cy="1773044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08F61BF-6F36-4E46-B46F-D5DCBC3C9B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2446" y="4635070"/>
              <a:ext cx="3417" cy="17465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114E4CE-9AA3-2248-AAFA-D79E28DFEBD9}"/>
                </a:ext>
              </a:extLst>
            </p:cNvPr>
            <p:cNvCxnSpPr>
              <a:cxnSpLocks/>
            </p:cNvCxnSpPr>
            <p:nvPr/>
          </p:nvCxnSpPr>
          <p:spPr>
            <a:xfrm>
              <a:off x="3237187" y="4635067"/>
              <a:ext cx="17867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000D147-F966-D845-822B-09845689EA82}"/>
                </a:ext>
              </a:extLst>
            </p:cNvPr>
            <p:cNvSpPr/>
            <p:nvPr/>
          </p:nvSpPr>
          <p:spPr>
            <a:xfrm>
              <a:off x="3226677" y="460853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92E0F08-16A1-7B4A-800C-E5AEFE5197B6}"/>
              </a:ext>
            </a:extLst>
          </p:cNvPr>
          <p:cNvGrpSpPr/>
          <p:nvPr/>
        </p:nvGrpSpPr>
        <p:grpSpPr>
          <a:xfrm>
            <a:off x="5426765" y="3547997"/>
            <a:ext cx="183819" cy="517299"/>
            <a:chOff x="3226677" y="4608530"/>
            <a:chExt cx="189186" cy="748915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707731D-7810-6A4E-878C-7A9141B63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5863" y="4635069"/>
              <a:ext cx="0" cy="7223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ABCE401-E750-464D-9CA0-EFBC7B63D073}"/>
                </a:ext>
              </a:extLst>
            </p:cNvPr>
            <p:cNvCxnSpPr>
              <a:cxnSpLocks/>
            </p:cNvCxnSpPr>
            <p:nvPr/>
          </p:nvCxnSpPr>
          <p:spPr>
            <a:xfrm>
              <a:off x="3237187" y="4635067"/>
              <a:ext cx="17867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323AFD9-3517-4D40-A0C3-ABE8C0422F5F}"/>
                </a:ext>
              </a:extLst>
            </p:cNvPr>
            <p:cNvSpPr/>
            <p:nvPr/>
          </p:nvSpPr>
          <p:spPr>
            <a:xfrm>
              <a:off x="3226677" y="460853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82E6BE6-233E-D249-A018-94A8F1636047}"/>
              </a:ext>
            </a:extLst>
          </p:cNvPr>
          <p:cNvSpPr txBox="1"/>
          <p:nvPr/>
        </p:nvSpPr>
        <p:spPr>
          <a:xfrm>
            <a:off x="94987" y="4417892"/>
            <a:ext cx="1450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RMST was proposed</a:t>
            </a:r>
          </a:p>
          <a:p>
            <a:pPr algn="ctr"/>
            <a:r>
              <a:rPr lang="en-US" sz="1200" dirty="0"/>
              <a:t>by Irwin (</a:t>
            </a:r>
            <a:r>
              <a:rPr lang="en-US" sz="1200" b="1" dirty="0"/>
              <a:t>1947</a:t>
            </a:r>
            <a:r>
              <a:rPr lang="en-US" sz="1200" dirty="0"/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B74CC9-20B3-6344-9169-13CBE62A8612}"/>
              </a:ext>
            </a:extLst>
          </p:cNvPr>
          <p:cNvSpPr txBox="1"/>
          <p:nvPr/>
        </p:nvSpPr>
        <p:spPr>
          <a:xfrm>
            <a:off x="1863733" y="4428591"/>
            <a:ext cx="1552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Karrison</a:t>
            </a:r>
            <a:endParaRPr lang="en-US" sz="1200" dirty="0"/>
          </a:p>
          <a:p>
            <a:pPr algn="ctr"/>
            <a:r>
              <a:rPr lang="en-US" sz="1200" dirty="0"/>
              <a:t> (</a:t>
            </a:r>
            <a:r>
              <a:rPr lang="en-US" sz="1200" b="1" dirty="0"/>
              <a:t>1997</a:t>
            </a:r>
            <a:r>
              <a:rPr lang="en-US" sz="1200" dirty="0"/>
              <a:t>, </a:t>
            </a:r>
            <a:r>
              <a:rPr lang="en-US" sz="1200" dirty="0" err="1"/>
              <a:t>Cont.Clin.Trial</a:t>
            </a:r>
            <a:r>
              <a:rPr lang="en-US" sz="12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5F12E-23D5-4E23-2048-862822E2C5EB}"/>
              </a:ext>
            </a:extLst>
          </p:cNvPr>
          <p:cNvSpPr txBox="1"/>
          <p:nvPr/>
        </p:nvSpPr>
        <p:spPr>
          <a:xfrm>
            <a:off x="719785" y="3719412"/>
            <a:ext cx="2086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Glasziou</a:t>
            </a:r>
            <a:r>
              <a:rPr lang="en-US" sz="1200" dirty="0"/>
              <a:t>, Simes, Gelber (</a:t>
            </a:r>
            <a:r>
              <a:rPr lang="en-US" sz="1200" b="1" dirty="0"/>
              <a:t>1990</a:t>
            </a:r>
            <a:r>
              <a:rPr lang="en-US" sz="1200" dirty="0"/>
              <a:t>)</a:t>
            </a:r>
          </a:p>
          <a:p>
            <a:pPr algn="ctr"/>
            <a:r>
              <a:rPr lang="en-US" sz="1200" dirty="0"/>
              <a:t> Partitioned survival curve </a:t>
            </a:r>
          </a:p>
          <a:p>
            <a:pPr algn="ctr"/>
            <a:r>
              <a:rPr lang="en-US" sz="1200" dirty="0"/>
              <a:t>(Quality Adjusted Survival)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7171A339-3E38-1543-B623-2C1AE05AC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576388"/>
            <a:ext cx="3829050" cy="3007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7" name="TextBox 8">
            <a:extLst>
              <a:ext uri="{FF2B5EF4-FFF2-40B4-BE49-F238E27FC236}">
                <a16:creationId xmlns:a16="http://schemas.microsoft.com/office/drawing/2014/main" id="{D04B318A-932B-D349-A247-90D7E9FD7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542" y="240537"/>
            <a:ext cx="3439716" cy="830997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400" b="1">
                <a:solidFill>
                  <a:srgbClr val="0A09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RMST was used as </a:t>
            </a:r>
          </a:p>
          <a:p>
            <a:pPr algn="ctr" eaLnBrk="1" hangingPunct="1"/>
            <a:r>
              <a:rPr lang="en-US" altLang="en-US" sz="2400" b="1">
                <a:solidFill>
                  <a:srgbClr val="0A09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primary analysis</a:t>
            </a:r>
          </a:p>
        </p:txBody>
      </p:sp>
      <p:pic>
        <p:nvPicPr>
          <p:cNvPr id="52228" name="Picture 10" descr="Text&#10;&#10;Description automatically generated">
            <a:extLst>
              <a:ext uri="{FF2B5EF4-FFF2-40B4-BE49-F238E27FC236}">
                <a16:creationId xmlns:a16="http://schemas.microsoft.com/office/drawing/2014/main" id="{FBCFF9A3-571C-3C49-ABC2-F95F9A39D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273" y="1426369"/>
            <a:ext cx="3193256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9" name="Picture 14" descr="Text&#10;&#10;Description automatically generated">
            <a:extLst>
              <a:ext uri="{FF2B5EF4-FFF2-40B4-BE49-F238E27FC236}">
                <a16:creationId xmlns:a16="http://schemas.microsoft.com/office/drawing/2014/main" id="{AA988C6D-9CA8-084F-AACA-074D16E8E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132" y="1032273"/>
            <a:ext cx="2959894" cy="38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0" name="Picture 16">
            <a:extLst>
              <a:ext uri="{FF2B5EF4-FFF2-40B4-BE49-F238E27FC236}">
                <a16:creationId xmlns:a16="http://schemas.microsoft.com/office/drawing/2014/main" id="{6452D695-CF95-954D-9B89-DC90D3776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131" y="475060"/>
            <a:ext cx="31527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1" name="Picture 18">
            <a:extLst>
              <a:ext uri="{FF2B5EF4-FFF2-40B4-BE49-F238E27FC236}">
                <a16:creationId xmlns:a16="http://schemas.microsoft.com/office/drawing/2014/main" id="{930A475C-87CE-654A-A7F1-17D09ECC4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7" y="757238"/>
            <a:ext cx="2977754" cy="275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2" name="TextBox 19">
            <a:extLst>
              <a:ext uri="{FF2B5EF4-FFF2-40B4-BE49-F238E27FC236}">
                <a16:creationId xmlns:a16="http://schemas.microsoft.com/office/drawing/2014/main" id="{E33D404C-46D8-0446-A602-BF4D90681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2713" y="225028"/>
            <a:ext cx="285366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Guimarães</a:t>
            </a:r>
            <a:r>
              <a:rPr lang="en-US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(November 14, 2020)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D6EE2A-5783-F503-375C-5D49AB43B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478" y="2258460"/>
            <a:ext cx="5237922" cy="26912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1CE7D2-E598-C2B8-C630-5ABDADA9C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21" y="253395"/>
            <a:ext cx="6028083" cy="19310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763086-1DA4-2E66-87DB-2A84A3438152}"/>
              </a:ext>
            </a:extLst>
          </p:cNvPr>
          <p:cNvSpPr txBox="1"/>
          <p:nvPr/>
        </p:nvSpPr>
        <p:spPr>
          <a:xfrm>
            <a:off x="6440557" y="253395"/>
            <a:ext cx="2197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Regan et al. 2019 JCO</a:t>
            </a:r>
          </a:p>
        </p:txBody>
      </p:sp>
    </p:spTree>
    <p:extLst>
      <p:ext uri="{BB962C8B-B14F-4D97-AF65-F5344CB8AC3E}">
        <p14:creationId xmlns:p14="http://schemas.microsoft.com/office/powerpoint/2010/main" val="2239786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360045"/>
            <a:ext cx="8428482" cy="442341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0365E5-191B-8682-D2D7-D20A21C36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1658411"/>
            <a:ext cx="3971037" cy="182667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59968" y="857250"/>
            <a:ext cx="0" cy="3429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BCCAE9E-1FEB-BC8E-C797-EED910D5E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362" y="1469787"/>
            <a:ext cx="3971037" cy="220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BA0843-D491-BB75-58D5-47A66C1D3D47}"/>
              </a:ext>
            </a:extLst>
          </p:cNvPr>
          <p:cNvSpPr txBox="1"/>
          <p:nvPr/>
        </p:nvSpPr>
        <p:spPr>
          <a:xfrm>
            <a:off x="776532" y="672584"/>
            <a:ext cx="5459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Regan et al. 2025 Journal for </a:t>
            </a:r>
            <a:r>
              <a:rPr lang="en-US" dirty="0" err="1"/>
              <a:t>Immuno</a:t>
            </a:r>
            <a:r>
              <a:rPr lang="en-US" dirty="0"/>
              <a:t> Therapy of Cancer</a:t>
            </a:r>
          </a:p>
        </p:txBody>
      </p:sp>
    </p:spTree>
    <p:extLst>
      <p:ext uri="{BB962C8B-B14F-4D97-AF65-F5344CB8AC3E}">
        <p14:creationId xmlns:p14="http://schemas.microsoft.com/office/powerpoint/2010/main" val="2997873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6988-C24A-378D-D7B0-A493EC843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0" y="816981"/>
            <a:ext cx="8120495" cy="7488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rgbClr val="262626"/>
                </a:solidFill>
                <a:latin typeface="Optima" panose="02000503060000020004" pitchFamily="2" charset="0"/>
              </a:rPr>
              <a:t>Goal: </a:t>
            </a:r>
            <a:r>
              <a:rPr lang="en-US" dirty="0">
                <a:latin typeface="Optima" panose="02000503060000020004" pitchFamily="2" charset="0"/>
              </a:rPr>
              <a:t>Participants can immediately apply the RMST methods in practice when appropriate.</a:t>
            </a:r>
          </a:p>
          <a:p>
            <a:pPr marL="0" indent="0">
              <a:buNone/>
            </a:pPr>
            <a:endParaRPr lang="en-US" dirty="0">
              <a:latin typeface="Optima" panose="02000503060000020004" pitchFamily="2" charset="0"/>
            </a:endParaRPr>
          </a:p>
          <a:p>
            <a:pPr lvl="1"/>
            <a:endParaRPr lang="en-US" dirty="0">
              <a:latin typeface="Optima" panose="02000503060000020004" pitchFamily="2" charset="0"/>
            </a:endParaRPr>
          </a:p>
        </p:txBody>
      </p:sp>
      <p:pic>
        <p:nvPicPr>
          <p:cNvPr id="5" name="Picture 4" descr="A person with dark hair and a blue shirt&#10;&#10;AI-generated content may be incorrect.">
            <a:extLst>
              <a:ext uri="{FF2B5EF4-FFF2-40B4-BE49-F238E27FC236}">
                <a16:creationId xmlns:a16="http://schemas.microsoft.com/office/drawing/2014/main" id="{20FCFBC3-29FE-9902-68B2-E257170FFD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82" y="2245358"/>
            <a:ext cx="1761623" cy="2339761"/>
          </a:xfrm>
          <a:prstGeom prst="rect">
            <a:avLst/>
          </a:prstGeom>
        </p:spPr>
      </p:pic>
      <p:pic>
        <p:nvPicPr>
          <p:cNvPr id="6" name="Picture 5" descr="A person smiling at camera&#10;&#10;AI-generated content may be incorrect.">
            <a:extLst>
              <a:ext uri="{FF2B5EF4-FFF2-40B4-BE49-F238E27FC236}">
                <a16:creationId xmlns:a16="http://schemas.microsoft.com/office/drawing/2014/main" id="{58AE4DA1-093F-E315-5F3D-A851B197E1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255" y="2314399"/>
            <a:ext cx="1761623" cy="234883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BF4E92E-C967-5BB2-1EDE-D9D582333410}"/>
              </a:ext>
            </a:extLst>
          </p:cNvPr>
          <p:cNvSpPr txBox="1">
            <a:spLocks/>
          </p:cNvSpPr>
          <p:nvPr/>
        </p:nvSpPr>
        <p:spPr>
          <a:xfrm>
            <a:off x="511751" y="1716848"/>
            <a:ext cx="8120495" cy="519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b="1" dirty="0">
                <a:solidFill>
                  <a:srgbClr val="262626"/>
                </a:solidFill>
                <a:latin typeface="Optima" panose="02000503060000020004" pitchFamily="2" charset="0"/>
              </a:rPr>
              <a:t>Instructors:</a:t>
            </a:r>
            <a:endParaRPr lang="en-US" dirty="0">
              <a:latin typeface="Optima" panose="0200050306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82E88C-2DCD-12CA-624D-2FDD78AF4DE2}"/>
              </a:ext>
            </a:extLst>
          </p:cNvPr>
          <p:cNvSpPr txBox="1"/>
          <p:nvPr/>
        </p:nvSpPr>
        <p:spPr>
          <a:xfrm>
            <a:off x="827452" y="4687906"/>
            <a:ext cx="1386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Angel Cronin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FE1990-7A80-D22C-78C4-05499C381493}"/>
              </a:ext>
            </a:extLst>
          </p:cNvPr>
          <p:cNvSpPr txBox="1"/>
          <p:nvPr/>
        </p:nvSpPr>
        <p:spPr>
          <a:xfrm>
            <a:off x="3713584" y="4687906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Xiang Meng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8007FF-C76C-CA8D-37D2-022C6CC5D553}"/>
              </a:ext>
            </a:extLst>
          </p:cNvPr>
          <p:cNvSpPr txBox="1"/>
          <p:nvPr/>
        </p:nvSpPr>
        <p:spPr>
          <a:xfrm>
            <a:off x="6601148" y="4680311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Hajime Uno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B99C37B-4366-7A43-B80B-E2E66C9DD2BC}"/>
              </a:ext>
            </a:extLst>
          </p:cNvPr>
          <p:cNvSpPr txBox="1">
            <a:spLocks/>
          </p:cNvSpPr>
          <p:nvPr/>
        </p:nvSpPr>
        <p:spPr>
          <a:xfrm>
            <a:off x="639682" y="131195"/>
            <a:ext cx="8120495" cy="748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en-US" sz="2800" b="1" dirty="0">
                <a:solidFill>
                  <a:srgbClr val="262626"/>
                </a:solidFill>
                <a:latin typeface="Optima" panose="02000503060000020004" pitchFamily="2" charset="0"/>
              </a:rPr>
              <a:t>Overview of the course</a:t>
            </a:r>
            <a:endParaRPr lang="en-US" sz="2800" dirty="0">
              <a:latin typeface="Optima" panose="02000503060000020004" pitchFamily="2" charset="0"/>
            </a:endParaRPr>
          </a:p>
        </p:txBody>
      </p:sp>
      <p:pic>
        <p:nvPicPr>
          <p:cNvPr id="8" name="Picture 7" descr="A person in a suit&#10;&#10;AI-generated content may be incorrect.">
            <a:extLst>
              <a:ext uri="{FF2B5EF4-FFF2-40B4-BE49-F238E27FC236}">
                <a16:creationId xmlns:a16="http://schemas.microsoft.com/office/drawing/2014/main" id="{E03A8C40-A518-097C-24D4-DD517B038F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4829" y="2220644"/>
            <a:ext cx="1864902" cy="233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964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C65FA7B5-2EB5-714C-BF5E-19593AB44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342596"/>
              </p:ext>
            </p:extLst>
          </p:nvPr>
        </p:nvGraphicFramePr>
        <p:xfrm>
          <a:off x="488074" y="764574"/>
          <a:ext cx="7200900" cy="2891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0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71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Date</a:t>
                      </a:r>
                    </a:p>
                  </a:txBody>
                  <a:tcPr marL="68585" marR="68585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Contents</a:t>
                      </a:r>
                    </a:p>
                  </a:txBody>
                  <a:tcPr marL="68585" marR="68585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937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Optima" panose="02000503060000020004" pitchFamily="2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algn="ctr"/>
                      <a:r>
                        <a:rPr lang="en-US" sz="1600" dirty="0">
                          <a:latin typeface="Optima" panose="02000503060000020004" pitchFamily="2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2025-11-05 </a:t>
                      </a:r>
                    </a:p>
                    <a:p>
                      <a:pPr algn="ctr"/>
                      <a:r>
                        <a:rPr lang="en-US" sz="1600" dirty="0">
                          <a:latin typeface="Optima" panose="02000503060000020004" pitchFamily="2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(120 min)</a:t>
                      </a:r>
                    </a:p>
                  </a:txBody>
                  <a:tcPr marL="68585" marR="68585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Optima" panose="02000503060000020004" pitchFamily="2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Part 1: Estimation of between-group difference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600" dirty="0">
                          <a:latin typeface="Optima" panose="02000503060000020004" pitchFamily="2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Limitation of Hazard Ratio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600" dirty="0">
                          <a:latin typeface="Optima" panose="02000503060000020004" pitchFamily="2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RSMT definition 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600" dirty="0">
                          <a:latin typeface="Optima" panose="02000503060000020004" pitchFamily="2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Examples</a:t>
                      </a:r>
                    </a:p>
                  </a:txBody>
                  <a:tcPr marL="68585" marR="68585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922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Optima" panose="02000503060000020004" pitchFamily="2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algn="ctr"/>
                      <a:r>
                        <a:rPr lang="en-US" sz="1600" dirty="0">
                          <a:latin typeface="Optima" panose="02000503060000020004" pitchFamily="2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2025-11-12 </a:t>
                      </a:r>
                    </a:p>
                    <a:p>
                      <a:pPr algn="ctr"/>
                      <a:r>
                        <a:rPr lang="en-US" sz="1600" dirty="0">
                          <a:latin typeface="Optima" panose="02000503060000020004" pitchFamily="2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(120 min)</a:t>
                      </a:r>
                    </a:p>
                  </a:txBody>
                  <a:tcPr marL="68585" marR="68585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tima" panose="02000503060000020004" pitchFamily="2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Part 2: More on RMST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>
                          <a:latin typeface="Optima" panose="02000503060000020004" pitchFamily="2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Power considerations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>
                          <a:latin typeface="Optima" panose="02000503060000020004" pitchFamily="2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Study design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>
                          <a:latin typeface="Optima" panose="02000503060000020004" pitchFamily="2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Regression analysis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>
                          <a:latin typeface="Optima" panose="02000503060000020004" pitchFamily="2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Stratified analysis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>
                          <a:latin typeface="Optima" panose="02000503060000020004" pitchFamily="2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Other applications of RMST </a:t>
                      </a:r>
                    </a:p>
                  </a:txBody>
                  <a:tcPr marL="68585" marR="68585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339" name="Title 1">
            <a:extLst>
              <a:ext uri="{FF2B5EF4-FFF2-40B4-BE49-F238E27FC236}">
                <a16:creationId xmlns:a16="http://schemas.microsoft.com/office/drawing/2014/main" id="{19753882-D557-D947-8C88-7E1ECED84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074" y="127275"/>
            <a:ext cx="7200900" cy="55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300" dirty="0">
                <a:solidFill>
                  <a:srgbClr val="262626"/>
                </a:solidFill>
                <a:latin typeface="Optima" panose="02000503060000020004" pitchFamily="2" charset="0"/>
              </a:rPr>
              <a:t>Schedule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B1B28-3BA2-A2FD-2995-D0088B6FADCB}"/>
              </a:ext>
            </a:extLst>
          </p:cNvPr>
          <p:cNvSpPr txBox="1"/>
          <p:nvPr/>
        </p:nvSpPr>
        <p:spPr>
          <a:xfrm>
            <a:off x="397176" y="3743076"/>
            <a:ext cx="85786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800" dirty="0">
                <a:latin typeface="Optima" panose="02000503060000020004" pitchFamily="2" charset="0"/>
                <a:ea typeface="Menlo" panose="020B0609030804020204" pitchFamily="49" charset="0"/>
                <a:cs typeface="Menlo" panose="020B0609030804020204" pitchFamily="49" charset="0"/>
              </a:rPr>
              <a:t>Each includes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dirty="0">
                <a:latin typeface="Optima" panose="02000503060000020004" pitchFamily="2" charset="0"/>
                <a:ea typeface="Menlo" panose="020B0609030804020204" pitchFamily="49" charset="0"/>
                <a:cs typeface="Menlo" panose="020B0609030804020204" pitchFamily="49" charset="0"/>
              </a:rPr>
              <a:t>10 min break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dirty="0">
                <a:latin typeface="Optima" panose="02000503060000020004" pitchFamily="2" charset="0"/>
                <a:ea typeface="Menlo" panose="020B0609030804020204" pitchFamily="49" charset="0"/>
                <a:cs typeface="Menlo" panose="020B0609030804020204" pitchFamily="49" charset="0"/>
              </a:rPr>
              <a:t>Demo and exercise using R (all materials are on the DS Training webpage)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dirty="0">
                <a:latin typeface="Optima" panose="02000503060000020004" pitchFamily="2" charset="0"/>
                <a:ea typeface="Menlo" panose="020B0609030804020204" pitchFamily="49" charset="0"/>
                <a:cs typeface="Menlo" panose="020B0609030804020204" pitchFamily="49" charset="0"/>
              </a:rPr>
              <a:t>Feedback and Q&amp;A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AA6F08-B9EC-C2AE-3994-7F55EF98C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180" y="2437699"/>
            <a:ext cx="1536727" cy="19055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F1DC95516CC6479B5A527CD2C2948D" ma:contentTypeVersion="14" ma:contentTypeDescription="Create a new document." ma:contentTypeScope="" ma:versionID="9a959812668569475234d936bf59f864">
  <xsd:schema xmlns:xsd="http://www.w3.org/2001/XMLSchema" xmlns:xs="http://www.w3.org/2001/XMLSchema" xmlns:p="http://schemas.microsoft.com/office/2006/metadata/properties" xmlns:ns2="e9ec7531-a315-4951-91b6-3359a35cc78a" xmlns:ns3="0ac06508-b636-4d39-a402-fce87b0367be" targetNamespace="http://schemas.microsoft.com/office/2006/metadata/properties" ma:root="true" ma:fieldsID="6f2070acb4b67e7cc520bc4ec47d73a3" ns2:_="" ns3:_="">
    <xsd:import namespace="e9ec7531-a315-4951-91b6-3359a35cc78a"/>
    <xsd:import namespace="0ac06508-b636-4d39-a402-fce87b0367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ec7531-a315-4951-91b6-3359a35cc7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60c9a04-0a06-4c47-89e2-9dbcedd85f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c06508-b636-4d39-a402-fce87b0367b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2cd3f3c-df82-460f-b106-491290f8bb73}" ma:internalName="TaxCatchAll" ma:showField="CatchAllData" ma:web="0ac06508-b636-4d39-a402-fce87b0367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9ec7531-a315-4951-91b6-3359a35cc78a">
      <Terms xmlns="http://schemas.microsoft.com/office/infopath/2007/PartnerControls"/>
    </lcf76f155ced4ddcb4097134ff3c332f>
    <TaxCatchAll xmlns="0ac06508-b636-4d39-a402-fce87b0367be" xsi:nil="true"/>
  </documentManagement>
</p:properties>
</file>

<file path=customXml/itemProps1.xml><?xml version="1.0" encoding="utf-8"?>
<ds:datastoreItem xmlns:ds="http://schemas.openxmlformats.org/officeDocument/2006/customXml" ds:itemID="{003144F3-AD64-42B7-A08F-7C93BFFBB3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78F0C3-6B1A-4B24-BE30-727ECD4B4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ec7531-a315-4951-91b6-3359a35cc78a"/>
    <ds:schemaRef ds:uri="0ac06508-b636-4d39-a402-fce87b0367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A4F72A-15BF-4E6A-AB58-9F2A1D045E46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www.w3.org/XML/1998/namespace"/>
    <ds:schemaRef ds:uri="http://purl.org/dc/terms/"/>
    <ds:schemaRef ds:uri="0ac06508-b636-4d39-a402-fce87b0367be"/>
    <ds:schemaRef ds:uri="http://schemas.microsoft.com/office/infopath/2007/PartnerControls"/>
    <ds:schemaRef ds:uri="http://schemas.openxmlformats.org/package/2006/metadata/core-properties"/>
    <ds:schemaRef ds:uri="e9ec7531-a315-4951-91b6-3359a35cc78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2328</TotalTime>
  <Words>864</Words>
  <Application>Microsoft Macintosh PowerPoint</Application>
  <PresentationFormat>On-screen Show (16:9)</PresentationFormat>
  <Paragraphs>165</Paragraphs>
  <Slides>11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Optima</vt:lpstr>
      <vt:lpstr>Times New Roman</vt:lpstr>
      <vt:lpstr>Office Theme</vt:lpstr>
      <vt:lpstr>Restricted Mean Survival Time in Practice:  An Easy-to-Understand Approach</vt:lpstr>
      <vt:lpstr>Welcome!</vt:lpstr>
      <vt:lpstr>Methods for time-to-event data</vt:lpstr>
      <vt:lpstr>Near universal use of log-rank/HR</vt:lpstr>
      <vt:lpstr>Signs of change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Research</dc:title>
  <dc:creator>Uno, Hajime</dc:creator>
  <cp:lastModifiedBy>Uno, Hajime</cp:lastModifiedBy>
  <cp:revision>94</cp:revision>
  <cp:lastPrinted>2022-02-08T02:47:49Z</cp:lastPrinted>
  <dcterms:created xsi:type="dcterms:W3CDTF">2020-01-16T21:24:18Z</dcterms:created>
  <dcterms:modified xsi:type="dcterms:W3CDTF">2025-11-04T15:14:19Z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0x01010042F1DC95516CC6479B5A527CD2C2948D</vt:lpwstr>
  </property>
  <property fmtid="{D5CDD505-2E9C-101B-9397-08002B2CF9AE}" pid="3" name="MediaServiceImageTags">
    <vt:lpwstr/>
  </property>
</Properties>
</file>